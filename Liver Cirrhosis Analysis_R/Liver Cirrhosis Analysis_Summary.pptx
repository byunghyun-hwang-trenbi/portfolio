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Open Sauce Light" panose="020B0600000101010101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맑은 고딕" panose="020B0503020000020004" pitchFamily="50" charset="-127"/>
      <p:regular r:id="rId14"/>
      <p:bold r:id="rId15"/>
    </p:embeddedFont>
    <p:embeddedFont>
      <p:font typeface="Open Sauce Bold" panose="020B0600000101010101" charset="0"/>
      <p:regular r:id="rId16"/>
    </p:embeddedFont>
    <p:embeddedFont>
      <p:font typeface="Open Sauce" panose="020B0600000101010101" charset="0"/>
      <p:regular r:id="rId17"/>
    </p:embeddedFont>
    <p:embeddedFont>
      <p:font typeface="League Spartan" panose="020B0600000101010101" charset="0"/>
      <p:regular r:id="rId18"/>
    </p:embeddedFont>
    <p:embeddedFont>
      <p:font typeface="Canva Sans Bold" panose="020B0600000101010101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19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051963" y="6362485"/>
            <a:ext cx="7914907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200" spc="-72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BYUNGHYUN HWANG</a:t>
            </a:r>
          </a:p>
        </p:txBody>
      </p:sp>
      <p:sp>
        <p:nvSpPr>
          <p:cNvPr id="5" name="AutoShape 5"/>
          <p:cNvSpPr/>
          <p:nvPr/>
        </p:nvSpPr>
        <p:spPr>
          <a:xfrm>
            <a:off x="8610631" y="8202189"/>
            <a:ext cx="797570" cy="0"/>
          </a:xfrm>
          <a:prstGeom prst="line">
            <a:avLst/>
          </a:prstGeom>
          <a:ln w="76200" cap="flat">
            <a:solidFill>
              <a:srgbClr val="F4B51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2218708" y="3733644"/>
            <a:ext cx="13581416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00"/>
              </a:lnSpc>
            </a:pPr>
            <a:r>
              <a:rPr lang="en-US" sz="80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Liver Cirrhosis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0" y="4762500"/>
            <a:ext cx="1192283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0"/>
              </a:lnSpc>
            </a:pPr>
            <a:r>
              <a:rPr lang="en-US" sz="4400" dirty="0" smtClean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Transition from Stage 3 to 4</a:t>
            </a:r>
            <a:endParaRPr lang="en-US" sz="4400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678" y="2933002"/>
            <a:ext cx="8652998" cy="6534138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w="76200" cap="flat">
            <a:solidFill>
              <a:srgbClr val="F4B51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28700" y="1848865"/>
            <a:ext cx="3086100" cy="571311"/>
            <a:chOff x="0" y="0"/>
            <a:chExt cx="812800" cy="1504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150469"/>
            </a:xfrm>
            <a:custGeom>
              <a:avLst/>
              <a:gdLst/>
              <a:ahLst/>
              <a:cxnLst/>
              <a:rect l="l" t="t" r="r" b="b"/>
              <a:pathLst>
                <a:path w="812800" h="150469">
                  <a:moveTo>
                    <a:pt x="812800" y="47664"/>
                  </a:moveTo>
                  <a:lnTo>
                    <a:pt x="812800" y="102804"/>
                  </a:lnTo>
                  <a:cubicBezTo>
                    <a:pt x="812800" y="129129"/>
                    <a:pt x="791460" y="150469"/>
                    <a:pt x="765136" y="150469"/>
                  </a:cubicBezTo>
                  <a:lnTo>
                    <a:pt x="47664" y="150469"/>
                  </a:lnTo>
                  <a:cubicBezTo>
                    <a:pt x="21340" y="150469"/>
                    <a:pt x="0" y="129129"/>
                    <a:pt x="0" y="102804"/>
                  </a:cubicBezTo>
                  <a:lnTo>
                    <a:pt x="0" y="47664"/>
                  </a:lnTo>
                  <a:cubicBezTo>
                    <a:pt x="0" y="21340"/>
                    <a:pt x="21340" y="0"/>
                    <a:pt x="47664" y="0"/>
                  </a:cubicBezTo>
                  <a:lnTo>
                    <a:pt x="765136" y="0"/>
                  </a:lnTo>
                  <a:cubicBezTo>
                    <a:pt x="791460" y="0"/>
                    <a:pt x="812800" y="21340"/>
                    <a:pt x="812800" y="47664"/>
                  </a:cubicBezTo>
                  <a:close/>
                </a:path>
              </a:pathLst>
            </a:custGeom>
            <a:solidFill>
              <a:srgbClr val="F4B51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198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17223" y="1848865"/>
            <a:ext cx="6752887" cy="571311"/>
            <a:chOff x="0" y="0"/>
            <a:chExt cx="1778538" cy="150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78538" cy="150469"/>
            </a:xfrm>
            <a:custGeom>
              <a:avLst/>
              <a:gdLst/>
              <a:ahLst/>
              <a:cxnLst/>
              <a:rect l="l" t="t" r="r" b="b"/>
              <a:pathLst>
                <a:path w="1778538" h="150469">
                  <a:moveTo>
                    <a:pt x="1778538" y="21783"/>
                  </a:moveTo>
                  <a:lnTo>
                    <a:pt x="1778538" y="128686"/>
                  </a:lnTo>
                  <a:cubicBezTo>
                    <a:pt x="1778538" y="140716"/>
                    <a:pt x="1768786" y="150469"/>
                    <a:pt x="1756755" y="150469"/>
                  </a:cubicBezTo>
                  <a:lnTo>
                    <a:pt x="21783" y="150469"/>
                  </a:lnTo>
                  <a:cubicBezTo>
                    <a:pt x="9752" y="150469"/>
                    <a:pt x="0" y="140716"/>
                    <a:pt x="0" y="128686"/>
                  </a:cubicBezTo>
                  <a:lnTo>
                    <a:pt x="0" y="21783"/>
                  </a:lnTo>
                  <a:cubicBezTo>
                    <a:pt x="0" y="9752"/>
                    <a:pt x="9752" y="0"/>
                    <a:pt x="21783" y="0"/>
                  </a:cubicBezTo>
                  <a:lnTo>
                    <a:pt x="1756755" y="0"/>
                  </a:lnTo>
                  <a:cubicBezTo>
                    <a:pt x="1762533" y="0"/>
                    <a:pt x="1768073" y="2295"/>
                    <a:pt x="1772158" y="6380"/>
                  </a:cubicBezTo>
                  <a:cubicBezTo>
                    <a:pt x="1776243" y="10465"/>
                    <a:pt x="1778538" y="16006"/>
                    <a:pt x="1778538" y="21783"/>
                  </a:cubicBezTo>
                  <a:close/>
                </a:path>
              </a:pathLst>
            </a:custGeom>
            <a:solidFill>
              <a:srgbClr val="F4B51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778538" cy="198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883937"/>
            <a:ext cx="7914907" cy="32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b="1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SET &amp; JAGS MODEL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08686" y="9124474"/>
            <a:ext cx="3050614" cy="29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2100" b="1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61840" y="1917385"/>
            <a:ext cx="1419820" cy="396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SET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610460"/>
            <a:ext cx="6134100" cy="351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80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 Observations</a:t>
            </a: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</a:t>
            </a:r>
            <a:r>
              <a:rPr lang="en-US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412 having target feature</a:t>
            </a:r>
            <a:endParaRPr lang="en-US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4176319"/>
            <a:ext cx="5125561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Selected Predictive Features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Albumin (</a:t>
            </a:r>
            <a:r>
              <a:rPr lang="en-US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alb</a:t>
            </a: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Copper (cop</a:t>
            </a:r>
            <a:r>
              <a:rPr lang="en-US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Platelets (</a:t>
            </a:r>
            <a:r>
              <a:rPr lang="en-US" dirty="0" err="1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pla</a:t>
            </a:r>
            <a:r>
              <a:rPr lang="en-US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marL="453393" lvl="1" indent="-226697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Prothrombin </a:t>
            </a: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Time (pro)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7946013"/>
            <a:ext cx="3957453" cy="185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Target Feature (Ordinal)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Cirrhosis Stage 1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Cirrhosis Stage 2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Cirrhosis Stage 3</a:t>
            </a:r>
          </a:p>
          <a:p>
            <a:pPr marL="453393" lvl="1" indent="-226697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Cirrhosis Stage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2653844"/>
            <a:ext cx="5125561" cy="75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Source</a:t>
            </a: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Mayo Clinic liver 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cirrhosis dataset (1974–1984)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39643" y="1917385"/>
            <a:ext cx="550804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0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JAGS (Ordered </a:t>
            </a:r>
            <a:r>
              <a:rPr lang="en-US" sz="20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Probit</a:t>
            </a:r>
            <a:r>
              <a:rPr lang="en-US" sz="2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Model)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851504" y="7775889"/>
            <a:ext cx="1783953" cy="701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(Continued on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Next Slide...)</a:t>
            </a:r>
          </a:p>
        </p:txBody>
      </p:sp>
      <p:sp>
        <p:nvSpPr>
          <p:cNvPr id="23" name="AutoShape 23"/>
          <p:cNvSpPr/>
          <p:nvPr/>
        </p:nvSpPr>
        <p:spPr>
          <a:xfrm>
            <a:off x="15851504" y="8629152"/>
            <a:ext cx="1783953" cy="0"/>
          </a:xfrm>
          <a:prstGeom prst="line">
            <a:avLst/>
          </a:prstGeom>
          <a:ln w="76200" cap="flat">
            <a:solidFill>
              <a:srgbClr val="F4B51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15"/>
          <p:cNvSpPr txBox="1"/>
          <p:nvPr/>
        </p:nvSpPr>
        <p:spPr>
          <a:xfrm>
            <a:off x="1028699" y="6260514"/>
            <a:ext cx="5125561" cy="15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b="1" dirty="0" smtClean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Missing Values</a:t>
            </a:r>
            <a:endParaRPr lang="en-US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Copper (cop</a:t>
            </a:r>
            <a:r>
              <a:rPr lang="en-US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): 102</a:t>
            </a:r>
          </a:p>
          <a:p>
            <a:pPr marL="453393" lvl="1" indent="-226697" algn="l">
              <a:lnSpc>
                <a:spcPts val="2940"/>
              </a:lnSpc>
              <a:buFont typeface="Arial"/>
              <a:buChar char="•"/>
            </a:pPr>
            <a:r>
              <a:rPr lang="en-US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Platelets (</a:t>
            </a:r>
            <a:r>
              <a:rPr lang="en-US" dirty="0" err="1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pla</a:t>
            </a:r>
            <a:r>
              <a:rPr lang="en-US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): 11</a:t>
            </a:r>
          </a:p>
          <a:p>
            <a:pPr marL="453393" lvl="1" indent="-226697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Prothrombin </a:t>
            </a:r>
            <a:r>
              <a:rPr lang="en-US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Time (pro</a:t>
            </a:r>
            <a:r>
              <a:rPr lang="en-US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): 2</a:t>
            </a:r>
            <a:endParaRPr lang="en-US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7315200" y="6057900"/>
            <a:ext cx="3352800" cy="8382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8915400" y="3314700"/>
            <a:ext cx="609600" cy="8382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7315200" y="7505700"/>
            <a:ext cx="7069280" cy="27018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7311873" y="8724900"/>
            <a:ext cx="8048993" cy="67983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꺾인 연결선 46"/>
          <p:cNvCxnSpPr/>
          <p:nvPr/>
        </p:nvCxnSpPr>
        <p:spPr>
          <a:xfrm flipV="1">
            <a:off x="4343400" y="6438900"/>
            <a:ext cx="2590800" cy="564831"/>
          </a:xfrm>
          <a:prstGeom prst="bentConnector3">
            <a:avLst/>
          </a:prstGeom>
          <a:ln w="28575">
            <a:solidFill>
              <a:srgbClr val="FFC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989" y="5281187"/>
            <a:ext cx="2369622" cy="979327"/>
          </a:xfrm>
          <a:prstGeom prst="rect">
            <a:avLst/>
          </a:prstGeom>
        </p:spPr>
      </p:pic>
      <p:sp>
        <p:nvSpPr>
          <p:cNvPr id="36" name="직사각형 35"/>
          <p:cNvSpPr/>
          <p:nvPr/>
        </p:nvSpPr>
        <p:spPr>
          <a:xfrm>
            <a:off x="4442460" y="5284469"/>
            <a:ext cx="2388390" cy="99158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00" y="2756678"/>
            <a:ext cx="8425400" cy="6654022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w="76200" cap="flat">
            <a:solidFill>
              <a:srgbClr val="F4B51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28700" y="883937"/>
            <a:ext cx="7914907" cy="32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b="1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JAGS MODEL &amp; OUTCOMES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08686" y="9124474"/>
            <a:ext cx="3050614" cy="29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2100" b="1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3" name="Freeform 23"/>
          <p:cNvSpPr/>
          <p:nvPr/>
        </p:nvSpPr>
        <p:spPr>
          <a:xfrm>
            <a:off x="9915364" y="2806642"/>
            <a:ext cx="7913666" cy="4891689"/>
          </a:xfrm>
          <a:custGeom>
            <a:avLst/>
            <a:gdLst/>
            <a:ahLst/>
            <a:cxnLst/>
            <a:rect l="l" t="t" r="r" b="b"/>
            <a:pathLst>
              <a:path w="7913666" h="4891689">
                <a:moveTo>
                  <a:pt x="0" y="0"/>
                </a:moveTo>
                <a:lnTo>
                  <a:pt x="7913666" y="0"/>
                </a:lnTo>
                <a:lnTo>
                  <a:pt x="7913666" y="4891689"/>
                </a:lnTo>
                <a:lnTo>
                  <a:pt x="0" y="48916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391099" y="8483491"/>
            <a:ext cx="6868201" cy="647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eliminate subjective bias as a non-medical expert, uninformative priors were utilized.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915364" y="1848865"/>
            <a:ext cx="4479812" cy="571311"/>
            <a:chOff x="0" y="0"/>
            <a:chExt cx="1179868" cy="1504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79868" cy="150469"/>
            </a:xfrm>
            <a:custGeom>
              <a:avLst/>
              <a:gdLst/>
              <a:ahLst/>
              <a:cxnLst/>
              <a:rect l="l" t="t" r="r" b="b"/>
              <a:pathLst>
                <a:path w="1179868" h="150469">
                  <a:moveTo>
                    <a:pt x="1179868" y="32835"/>
                  </a:moveTo>
                  <a:lnTo>
                    <a:pt x="1179868" y="117633"/>
                  </a:lnTo>
                  <a:cubicBezTo>
                    <a:pt x="1179868" y="135768"/>
                    <a:pt x="1165167" y="150469"/>
                    <a:pt x="1147033" y="150469"/>
                  </a:cubicBezTo>
                  <a:lnTo>
                    <a:pt x="32835" y="150469"/>
                  </a:lnTo>
                  <a:cubicBezTo>
                    <a:pt x="14701" y="150469"/>
                    <a:pt x="0" y="135768"/>
                    <a:pt x="0" y="117633"/>
                  </a:cubicBezTo>
                  <a:lnTo>
                    <a:pt x="0" y="32835"/>
                  </a:lnTo>
                  <a:cubicBezTo>
                    <a:pt x="0" y="14701"/>
                    <a:pt x="14701" y="0"/>
                    <a:pt x="32835" y="0"/>
                  </a:cubicBezTo>
                  <a:lnTo>
                    <a:pt x="1147033" y="0"/>
                  </a:lnTo>
                  <a:cubicBezTo>
                    <a:pt x="1165167" y="0"/>
                    <a:pt x="1179868" y="14701"/>
                    <a:pt x="1179868" y="32835"/>
                  </a:cubicBezTo>
                  <a:close/>
                </a:path>
              </a:pathLst>
            </a:custGeom>
            <a:solidFill>
              <a:srgbClr val="F4B51E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179868" cy="198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339219" y="1917343"/>
            <a:ext cx="3598416" cy="39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VARIABLE IMPORTANCE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28700" y="1848865"/>
            <a:ext cx="6752887" cy="571311"/>
            <a:chOff x="0" y="0"/>
            <a:chExt cx="1778538" cy="15046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778538" cy="150469"/>
            </a:xfrm>
            <a:custGeom>
              <a:avLst/>
              <a:gdLst/>
              <a:ahLst/>
              <a:cxnLst/>
              <a:rect l="l" t="t" r="r" b="b"/>
              <a:pathLst>
                <a:path w="1778538" h="150469">
                  <a:moveTo>
                    <a:pt x="1778538" y="21783"/>
                  </a:moveTo>
                  <a:lnTo>
                    <a:pt x="1778538" y="128686"/>
                  </a:lnTo>
                  <a:cubicBezTo>
                    <a:pt x="1778538" y="140716"/>
                    <a:pt x="1768786" y="150469"/>
                    <a:pt x="1756755" y="150469"/>
                  </a:cubicBezTo>
                  <a:lnTo>
                    <a:pt x="21783" y="150469"/>
                  </a:lnTo>
                  <a:cubicBezTo>
                    <a:pt x="9752" y="150469"/>
                    <a:pt x="0" y="140716"/>
                    <a:pt x="0" y="128686"/>
                  </a:cubicBezTo>
                  <a:lnTo>
                    <a:pt x="0" y="21783"/>
                  </a:lnTo>
                  <a:cubicBezTo>
                    <a:pt x="0" y="9752"/>
                    <a:pt x="9752" y="0"/>
                    <a:pt x="21783" y="0"/>
                  </a:cubicBezTo>
                  <a:lnTo>
                    <a:pt x="1756755" y="0"/>
                  </a:lnTo>
                  <a:cubicBezTo>
                    <a:pt x="1762533" y="0"/>
                    <a:pt x="1768073" y="2295"/>
                    <a:pt x="1772158" y="6380"/>
                  </a:cubicBezTo>
                  <a:cubicBezTo>
                    <a:pt x="1776243" y="10465"/>
                    <a:pt x="1778538" y="16006"/>
                    <a:pt x="1778538" y="21783"/>
                  </a:cubicBezTo>
                  <a:close/>
                </a:path>
              </a:pathLst>
            </a:custGeom>
            <a:solidFill>
              <a:srgbClr val="F4B51E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778538" cy="198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51120" y="1917343"/>
            <a:ext cx="550804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000" b="1" dirty="0" smtClean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JAGS </a:t>
            </a:r>
            <a:r>
              <a:rPr lang="en-US" sz="2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(Ordered </a:t>
            </a:r>
            <a:r>
              <a:rPr lang="en-US" sz="20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Probit</a:t>
            </a:r>
            <a:r>
              <a:rPr lang="en-US" sz="2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Model)</a:t>
            </a:r>
          </a:p>
        </p:txBody>
      </p:sp>
      <p:sp>
        <p:nvSpPr>
          <p:cNvPr id="33" name="Freeform 33"/>
          <p:cNvSpPr/>
          <p:nvPr/>
        </p:nvSpPr>
        <p:spPr>
          <a:xfrm rot="-5407675">
            <a:off x="9840491" y="8461365"/>
            <a:ext cx="317709" cy="420048"/>
          </a:xfrm>
          <a:custGeom>
            <a:avLst/>
            <a:gdLst/>
            <a:ahLst/>
            <a:cxnLst/>
            <a:rect l="l" t="t" r="r" b="b"/>
            <a:pathLst>
              <a:path w="317709" h="420048">
                <a:moveTo>
                  <a:pt x="0" y="0"/>
                </a:moveTo>
                <a:lnTo>
                  <a:pt x="317709" y="0"/>
                </a:lnTo>
                <a:lnTo>
                  <a:pt x="317709" y="420047"/>
                </a:lnTo>
                <a:lnTo>
                  <a:pt x="0" y="42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직사각형 33"/>
          <p:cNvSpPr/>
          <p:nvPr/>
        </p:nvSpPr>
        <p:spPr>
          <a:xfrm>
            <a:off x="1143000" y="3390900"/>
            <a:ext cx="7391400" cy="8382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1143000" y="4991101"/>
            <a:ext cx="2743200" cy="2286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1143000" y="5774214"/>
            <a:ext cx="2615184" cy="8127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1143000" y="6972300"/>
            <a:ext cx="2743200" cy="8413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1143000" y="8191500"/>
            <a:ext cx="5715000" cy="8413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w="76200" cap="flat">
            <a:solidFill>
              <a:srgbClr val="F4B51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9388762" y="2667826"/>
            <a:ext cx="6538349" cy="4019614"/>
            <a:chOff x="0" y="0"/>
            <a:chExt cx="8717799" cy="53594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79779" cy="2589850"/>
            </a:xfrm>
            <a:custGeom>
              <a:avLst/>
              <a:gdLst/>
              <a:ahLst/>
              <a:cxnLst/>
              <a:rect l="l" t="t" r="r" b="b"/>
              <a:pathLst>
                <a:path w="4079779" h="2589850">
                  <a:moveTo>
                    <a:pt x="0" y="0"/>
                  </a:moveTo>
                  <a:lnTo>
                    <a:pt x="4079779" y="0"/>
                  </a:lnTo>
                  <a:lnTo>
                    <a:pt x="4079779" y="2589850"/>
                  </a:lnTo>
                  <a:lnTo>
                    <a:pt x="0" y="2589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12457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4640031" y="23271"/>
              <a:ext cx="4032541" cy="2543308"/>
            </a:xfrm>
            <a:custGeom>
              <a:avLst/>
              <a:gdLst/>
              <a:ahLst/>
              <a:cxnLst/>
              <a:rect l="l" t="t" r="r" b="b"/>
              <a:pathLst>
                <a:path w="4032541" h="2543308">
                  <a:moveTo>
                    <a:pt x="0" y="0"/>
                  </a:moveTo>
                  <a:lnTo>
                    <a:pt x="4032541" y="0"/>
                  </a:lnTo>
                  <a:lnTo>
                    <a:pt x="4032541" y="2543308"/>
                  </a:lnTo>
                  <a:lnTo>
                    <a:pt x="0" y="2543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51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4711" y="2774438"/>
              <a:ext cx="4079779" cy="2585048"/>
            </a:xfrm>
            <a:custGeom>
              <a:avLst/>
              <a:gdLst/>
              <a:ahLst/>
              <a:cxnLst/>
              <a:rect l="l" t="t" r="r" b="b"/>
              <a:pathLst>
                <a:path w="4079779" h="2585048">
                  <a:moveTo>
                    <a:pt x="0" y="0"/>
                  </a:moveTo>
                  <a:lnTo>
                    <a:pt x="4079779" y="0"/>
                  </a:lnTo>
                  <a:lnTo>
                    <a:pt x="4079779" y="2585048"/>
                  </a:lnTo>
                  <a:lnTo>
                    <a:pt x="0" y="2585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12852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4685258" y="2812378"/>
              <a:ext cx="4032541" cy="2547108"/>
            </a:xfrm>
            <a:custGeom>
              <a:avLst/>
              <a:gdLst/>
              <a:ahLst/>
              <a:cxnLst/>
              <a:rect l="l" t="t" r="r" b="b"/>
              <a:pathLst>
                <a:path w="4032541" h="2547108">
                  <a:moveTo>
                    <a:pt x="0" y="0"/>
                  </a:moveTo>
                  <a:lnTo>
                    <a:pt x="4032541" y="0"/>
                  </a:lnTo>
                  <a:lnTo>
                    <a:pt x="4032541" y="2547108"/>
                  </a:lnTo>
                  <a:lnTo>
                    <a:pt x="0" y="25471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1419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4208686" y="9124474"/>
            <a:ext cx="3050614" cy="29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2100" b="1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3993" y="1848865"/>
            <a:ext cx="4554128" cy="571311"/>
            <a:chOff x="0" y="0"/>
            <a:chExt cx="1199441" cy="1504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99441" cy="150469"/>
            </a:xfrm>
            <a:custGeom>
              <a:avLst/>
              <a:gdLst/>
              <a:ahLst/>
              <a:cxnLst/>
              <a:rect l="l" t="t" r="r" b="b"/>
              <a:pathLst>
                <a:path w="1199441" h="150469">
                  <a:moveTo>
                    <a:pt x="1199441" y="32300"/>
                  </a:moveTo>
                  <a:lnTo>
                    <a:pt x="1199441" y="118169"/>
                  </a:lnTo>
                  <a:cubicBezTo>
                    <a:pt x="1199441" y="126735"/>
                    <a:pt x="1196038" y="134951"/>
                    <a:pt x="1189981" y="141008"/>
                  </a:cubicBezTo>
                  <a:cubicBezTo>
                    <a:pt x="1183923" y="147066"/>
                    <a:pt x="1175708" y="150469"/>
                    <a:pt x="1167141" y="150469"/>
                  </a:cubicBezTo>
                  <a:lnTo>
                    <a:pt x="32300" y="150469"/>
                  </a:lnTo>
                  <a:cubicBezTo>
                    <a:pt x="23733" y="150469"/>
                    <a:pt x="15518" y="147066"/>
                    <a:pt x="9460" y="141008"/>
                  </a:cubicBezTo>
                  <a:cubicBezTo>
                    <a:pt x="3403" y="134951"/>
                    <a:pt x="0" y="126735"/>
                    <a:pt x="0" y="118169"/>
                  </a:cubicBezTo>
                  <a:lnTo>
                    <a:pt x="0" y="32300"/>
                  </a:lnTo>
                  <a:cubicBezTo>
                    <a:pt x="0" y="23733"/>
                    <a:pt x="3403" y="15518"/>
                    <a:pt x="9460" y="9460"/>
                  </a:cubicBezTo>
                  <a:cubicBezTo>
                    <a:pt x="15518" y="3403"/>
                    <a:pt x="23733" y="0"/>
                    <a:pt x="32300" y="0"/>
                  </a:cubicBezTo>
                  <a:lnTo>
                    <a:pt x="1167141" y="0"/>
                  </a:lnTo>
                  <a:cubicBezTo>
                    <a:pt x="1175708" y="0"/>
                    <a:pt x="1183923" y="3403"/>
                    <a:pt x="1189981" y="9460"/>
                  </a:cubicBezTo>
                  <a:cubicBezTo>
                    <a:pt x="1196038" y="15518"/>
                    <a:pt x="1199441" y="23733"/>
                    <a:pt x="1199441" y="32300"/>
                  </a:cubicBezTo>
                  <a:close/>
                </a:path>
              </a:pathLst>
            </a:custGeom>
            <a:solidFill>
              <a:srgbClr val="F4B51E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199441" cy="198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1848865"/>
            <a:ext cx="4554128" cy="571311"/>
            <a:chOff x="0" y="0"/>
            <a:chExt cx="1199441" cy="1504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99441" cy="150469"/>
            </a:xfrm>
            <a:custGeom>
              <a:avLst/>
              <a:gdLst/>
              <a:ahLst/>
              <a:cxnLst/>
              <a:rect l="l" t="t" r="r" b="b"/>
              <a:pathLst>
                <a:path w="1199441" h="150469">
                  <a:moveTo>
                    <a:pt x="1199441" y="32300"/>
                  </a:moveTo>
                  <a:lnTo>
                    <a:pt x="1199441" y="118169"/>
                  </a:lnTo>
                  <a:cubicBezTo>
                    <a:pt x="1199441" y="126735"/>
                    <a:pt x="1196038" y="134951"/>
                    <a:pt x="1189981" y="141008"/>
                  </a:cubicBezTo>
                  <a:cubicBezTo>
                    <a:pt x="1183923" y="147066"/>
                    <a:pt x="1175708" y="150469"/>
                    <a:pt x="1167141" y="150469"/>
                  </a:cubicBezTo>
                  <a:lnTo>
                    <a:pt x="32300" y="150469"/>
                  </a:lnTo>
                  <a:cubicBezTo>
                    <a:pt x="23733" y="150469"/>
                    <a:pt x="15518" y="147066"/>
                    <a:pt x="9460" y="141008"/>
                  </a:cubicBezTo>
                  <a:cubicBezTo>
                    <a:pt x="3403" y="134951"/>
                    <a:pt x="0" y="126735"/>
                    <a:pt x="0" y="118169"/>
                  </a:cubicBezTo>
                  <a:lnTo>
                    <a:pt x="0" y="32300"/>
                  </a:lnTo>
                  <a:cubicBezTo>
                    <a:pt x="0" y="23733"/>
                    <a:pt x="3403" y="15518"/>
                    <a:pt x="9460" y="9460"/>
                  </a:cubicBezTo>
                  <a:cubicBezTo>
                    <a:pt x="15518" y="3403"/>
                    <a:pt x="23733" y="0"/>
                    <a:pt x="32300" y="0"/>
                  </a:cubicBezTo>
                  <a:lnTo>
                    <a:pt x="1167141" y="0"/>
                  </a:lnTo>
                  <a:cubicBezTo>
                    <a:pt x="1175708" y="0"/>
                    <a:pt x="1183923" y="3403"/>
                    <a:pt x="1189981" y="9460"/>
                  </a:cubicBezTo>
                  <a:cubicBezTo>
                    <a:pt x="1196038" y="15518"/>
                    <a:pt x="1199441" y="23733"/>
                    <a:pt x="1199441" y="32300"/>
                  </a:cubicBezTo>
                  <a:close/>
                </a:path>
              </a:pathLst>
            </a:custGeom>
            <a:solidFill>
              <a:srgbClr val="F4B51E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199441" cy="198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50691" y="6687440"/>
            <a:ext cx="7671640" cy="3105018"/>
            <a:chOff x="0" y="0"/>
            <a:chExt cx="10228853" cy="4140024"/>
          </a:xfrm>
        </p:grpSpPr>
        <p:sp>
          <p:nvSpPr>
            <p:cNvPr id="16" name="Freeform 16"/>
            <p:cNvSpPr/>
            <p:nvPr/>
          </p:nvSpPr>
          <p:spPr>
            <a:xfrm>
              <a:off x="0" y="112070"/>
              <a:ext cx="5085982" cy="2087507"/>
            </a:xfrm>
            <a:custGeom>
              <a:avLst/>
              <a:gdLst/>
              <a:ahLst/>
              <a:cxnLst/>
              <a:rect l="l" t="t" r="r" b="b"/>
              <a:pathLst>
                <a:path w="5085982" h="2087507">
                  <a:moveTo>
                    <a:pt x="0" y="0"/>
                  </a:moveTo>
                  <a:lnTo>
                    <a:pt x="5085982" y="0"/>
                  </a:lnTo>
                  <a:lnTo>
                    <a:pt x="5085982" y="2087507"/>
                  </a:lnTo>
                  <a:lnTo>
                    <a:pt x="0" y="208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20340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5142871" y="0"/>
              <a:ext cx="5085982" cy="2251851"/>
            </a:xfrm>
            <a:custGeom>
              <a:avLst/>
              <a:gdLst/>
              <a:ahLst/>
              <a:cxnLst/>
              <a:rect l="l" t="t" r="r" b="b"/>
              <a:pathLst>
                <a:path w="5085982" h="2251851">
                  <a:moveTo>
                    <a:pt x="0" y="0"/>
                  </a:moveTo>
                  <a:lnTo>
                    <a:pt x="5085982" y="0"/>
                  </a:lnTo>
                  <a:lnTo>
                    <a:pt x="5085982" y="2251851"/>
                  </a:lnTo>
                  <a:lnTo>
                    <a:pt x="0" y="2251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9701" b="-97259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690006" y="2057400"/>
              <a:ext cx="5085982" cy="2082624"/>
            </a:xfrm>
            <a:custGeom>
              <a:avLst/>
              <a:gdLst/>
              <a:ahLst/>
              <a:cxnLst/>
              <a:rect l="l" t="t" r="r" b="b"/>
              <a:pathLst>
                <a:path w="5085982" h="2082624">
                  <a:moveTo>
                    <a:pt x="0" y="0"/>
                  </a:moveTo>
                  <a:lnTo>
                    <a:pt x="5085982" y="0"/>
                  </a:lnTo>
                  <a:lnTo>
                    <a:pt x="5085982" y="2082624"/>
                  </a:lnTo>
                  <a:lnTo>
                    <a:pt x="0" y="208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21091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 rot="5400000">
            <a:off x="8691837" y="8471110"/>
            <a:ext cx="317709" cy="420048"/>
          </a:xfrm>
          <a:custGeom>
            <a:avLst/>
            <a:gdLst/>
            <a:ahLst/>
            <a:cxnLst/>
            <a:rect l="l" t="t" r="r" b="b"/>
            <a:pathLst>
              <a:path w="317709" h="420048">
                <a:moveTo>
                  <a:pt x="0" y="0"/>
                </a:moveTo>
                <a:lnTo>
                  <a:pt x="317709" y="0"/>
                </a:lnTo>
                <a:lnTo>
                  <a:pt x="317709" y="420048"/>
                </a:lnTo>
                <a:lnTo>
                  <a:pt x="0" y="4200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28700" y="2867851"/>
            <a:ext cx="7271486" cy="4494737"/>
          </a:xfrm>
          <a:custGeom>
            <a:avLst/>
            <a:gdLst/>
            <a:ahLst/>
            <a:cxnLst/>
            <a:rect l="l" t="t" r="r" b="b"/>
            <a:pathLst>
              <a:path w="7271486" h="4494737">
                <a:moveTo>
                  <a:pt x="0" y="0"/>
                </a:moveTo>
                <a:lnTo>
                  <a:pt x="7271486" y="0"/>
                </a:lnTo>
                <a:lnTo>
                  <a:pt x="7271486" y="4494737"/>
                </a:lnTo>
                <a:lnTo>
                  <a:pt x="0" y="44947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28700" y="883937"/>
            <a:ext cx="7914907" cy="32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b="1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OUTCOMES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52673" y="1917343"/>
            <a:ext cx="2336767" cy="39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CONVERGENCE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01727" y="1917343"/>
            <a:ext cx="3208073" cy="396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THRESHOLDS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7587" y="8343314"/>
            <a:ext cx="7543992" cy="6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well-mixed 'hairy caterpillar' </a:t>
            </a:r>
            <a:r>
              <a:rPr lang="en-US" sz="1900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trace plots </a:t>
            </a: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suggest successful convergence of the estimated variables and stage thresholds.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그림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036" y="3261341"/>
            <a:ext cx="7732859" cy="4776809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w="76200" cap="flat">
            <a:solidFill>
              <a:srgbClr val="F4B51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592958" y="1928492"/>
            <a:ext cx="6416786" cy="1060653"/>
            <a:chOff x="0" y="0"/>
            <a:chExt cx="1690018" cy="2793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90018" cy="279349"/>
            </a:xfrm>
            <a:custGeom>
              <a:avLst/>
              <a:gdLst/>
              <a:ahLst/>
              <a:cxnLst/>
              <a:rect l="l" t="t" r="r" b="b"/>
              <a:pathLst>
                <a:path w="1690018" h="279349">
                  <a:moveTo>
                    <a:pt x="1690018" y="22924"/>
                  </a:moveTo>
                  <a:lnTo>
                    <a:pt x="1690018" y="256425"/>
                  </a:lnTo>
                  <a:cubicBezTo>
                    <a:pt x="1690018" y="269086"/>
                    <a:pt x="1679754" y="279349"/>
                    <a:pt x="1667094" y="279349"/>
                  </a:cubicBezTo>
                  <a:lnTo>
                    <a:pt x="22924" y="279349"/>
                  </a:lnTo>
                  <a:cubicBezTo>
                    <a:pt x="10263" y="279349"/>
                    <a:pt x="0" y="269086"/>
                    <a:pt x="0" y="256425"/>
                  </a:cubicBezTo>
                  <a:lnTo>
                    <a:pt x="0" y="22924"/>
                  </a:lnTo>
                  <a:cubicBezTo>
                    <a:pt x="0" y="10263"/>
                    <a:pt x="10263" y="0"/>
                    <a:pt x="22924" y="0"/>
                  </a:cubicBezTo>
                  <a:lnTo>
                    <a:pt x="1667094" y="0"/>
                  </a:lnTo>
                  <a:cubicBezTo>
                    <a:pt x="1673174" y="0"/>
                    <a:pt x="1679004" y="2415"/>
                    <a:pt x="1683304" y="6714"/>
                  </a:cubicBezTo>
                  <a:cubicBezTo>
                    <a:pt x="1687603" y="11013"/>
                    <a:pt x="1690018" y="16844"/>
                    <a:pt x="1690018" y="22924"/>
                  </a:cubicBezTo>
                  <a:close/>
                </a:path>
              </a:pathLst>
            </a:custGeom>
            <a:solidFill>
              <a:srgbClr val="F4B51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90018" cy="32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92684" y="3261341"/>
            <a:ext cx="7617336" cy="4708518"/>
          </a:xfrm>
          <a:custGeom>
            <a:avLst/>
            <a:gdLst/>
            <a:ahLst/>
            <a:cxnLst/>
            <a:rect l="l" t="t" r="r" b="b"/>
            <a:pathLst>
              <a:path w="7617336" h="4708518">
                <a:moveTo>
                  <a:pt x="0" y="0"/>
                </a:moveTo>
                <a:lnTo>
                  <a:pt x="7617336" y="0"/>
                </a:lnTo>
                <a:lnTo>
                  <a:pt x="7617336" y="4708518"/>
                </a:lnTo>
                <a:lnTo>
                  <a:pt x="0" y="4708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799514" y="1928492"/>
            <a:ext cx="6416786" cy="1060653"/>
            <a:chOff x="0" y="0"/>
            <a:chExt cx="1690018" cy="2793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0018" cy="279349"/>
            </a:xfrm>
            <a:custGeom>
              <a:avLst/>
              <a:gdLst/>
              <a:ahLst/>
              <a:cxnLst/>
              <a:rect l="l" t="t" r="r" b="b"/>
              <a:pathLst>
                <a:path w="1690018" h="279349">
                  <a:moveTo>
                    <a:pt x="1690018" y="22924"/>
                  </a:moveTo>
                  <a:lnTo>
                    <a:pt x="1690018" y="256425"/>
                  </a:lnTo>
                  <a:cubicBezTo>
                    <a:pt x="1690018" y="269086"/>
                    <a:pt x="1679754" y="279349"/>
                    <a:pt x="1667094" y="279349"/>
                  </a:cubicBezTo>
                  <a:lnTo>
                    <a:pt x="22924" y="279349"/>
                  </a:lnTo>
                  <a:cubicBezTo>
                    <a:pt x="10263" y="279349"/>
                    <a:pt x="0" y="269086"/>
                    <a:pt x="0" y="256425"/>
                  </a:cubicBezTo>
                  <a:lnTo>
                    <a:pt x="0" y="22924"/>
                  </a:lnTo>
                  <a:cubicBezTo>
                    <a:pt x="0" y="10263"/>
                    <a:pt x="10263" y="0"/>
                    <a:pt x="22924" y="0"/>
                  </a:cubicBezTo>
                  <a:lnTo>
                    <a:pt x="1667094" y="0"/>
                  </a:lnTo>
                  <a:cubicBezTo>
                    <a:pt x="1673174" y="0"/>
                    <a:pt x="1679004" y="2415"/>
                    <a:pt x="1683304" y="6714"/>
                  </a:cubicBezTo>
                  <a:cubicBezTo>
                    <a:pt x="1687603" y="11013"/>
                    <a:pt x="1690018" y="16844"/>
                    <a:pt x="1690018" y="22924"/>
                  </a:cubicBezTo>
                  <a:close/>
                </a:path>
              </a:pathLst>
            </a:custGeom>
            <a:solidFill>
              <a:srgbClr val="F4B51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690018" cy="326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883937"/>
            <a:ext cx="8744082" cy="32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b="1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RESEARCH QUESTION 1 &amp;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08686" y="9124474"/>
            <a:ext cx="3050614" cy="29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2100" b="1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86716" y="2067676"/>
            <a:ext cx="6029270" cy="760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RQ1. </a:t>
            </a:r>
            <a:r>
              <a:rPr lang="en-US" sz="2200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What is the most influential blood biomarker for each distinct stage transition?</a:t>
            </a:r>
            <a:endParaRPr lang="en-US" sz="22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764386" y="2067676"/>
            <a:ext cx="6487043" cy="760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RQ2. How do clinical changes in blood biomarkers affect </a:t>
            </a:r>
            <a:r>
              <a:rPr lang="en-US" sz="2200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stage 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 probability?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4292051" y="4202961"/>
            <a:ext cx="507952" cy="50795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4B51E"/>
              </a:solidFill>
              <a:prstDash val="dash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509766" y="6165218"/>
            <a:ext cx="507952" cy="50795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4B51E"/>
              </a:solidFill>
              <a:prstDash val="dash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518752" y="4231536"/>
            <a:ext cx="507952" cy="50795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4B51E"/>
              </a:solidFill>
              <a:prstDash val="dash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490177" y="6326099"/>
            <a:ext cx="507952" cy="50795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ln w="38100" cap="sq">
              <a:solidFill>
                <a:srgbClr val="F4B51E"/>
              </a:solidFill>
              <a:prstDash val="dash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28700" y="8326381"/>
            <a:ext cx="194244" cy="194244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B51E"/>
            </a:solidFill>
            <a:ln cap="sq">
              <a:noFill/>
              <a:prstDash val="dash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47896" y="8258176"/>
            <a:ext cx="656184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During the early </a:t>
            </a:r>
            <a:r>
              <a:rPr lang="en-US" sz="1900" dirty="0" smtClean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transition </a:t>
            </a: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(stage 1 to 2):  </a:t>
            </a:r>
            <a:r>
              <a:rPr lang="en-US" sz="19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Albumin</a:t>
            </a: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(40.7%)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28700" y="8757827"/>
            <a:ext cx="194244" cy="19424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B51E"/>
            </a:solidFill>
            <a:ln cap="sq">
              <a:noFill/>
              <a:prstDash val="dash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447896" y="8683817"/>
            <a:ext cx="769610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During the progression </a:t>
            </a:r>
            <a:r>
              <a:rPr lang="en-US" sz="1900" dirty="0" smtClean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transition </a:t>
            </a: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(stage 2 to 3):  Copper (33.8%)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028700" y="9185817"/>
            <a:ext cx="194244" cy="194244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B51E"/>
            </a:solidFill>
            <a:ln cap="sq">
              <a:noFill/>
              <a:prstDash val="dash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447896" y="9111807"/>
            <a:ext cx="716212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During the severe </a:t>
            </a:r>
            <a:r>
              <a:rPr lang="en-US" sz="1900" dirty="0" smtClean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transition </a:t>
            </a: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(stage 3 to 4):  </a:t>
            </a:r>
            <a:r>
              <a:rPr lang="en-US" sz="19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Albumin</a:t>
            </a: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 (46.3%)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512308" y="8280946"/>
            <a:ext cx="194244" cy="194244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B51E"/>
            </a:solidFill>
            <a:ln cap="sq">
              <a:noFill/>
              <a:prstDash val="dash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931504" y="8212741"/>
            <a:ext cx="5460896" cy="315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dirty="0" smtClean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Transition point </a:t>
            </a: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of </a:t>
            </a:r>
            <a:r>
              <a:rPr lang="en-US" sz="190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Albumin</a:t>
            </a: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: less than 3.3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9512308" y="8712392"/>
            <a:ext cx="194244" cy="19424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B51E"/>
            </a:solidFill>
            <a:ln cap="sq">
              <a:noFill/>
              <a:prstDash val="dash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931504" y="8638382"/>
            <a:ext cx="5038594" cy="315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60"/>
              </a:lnSpc>
            </a:pPr>
            <a:r>
              <a:rPr lang="en-US" altLang="ko-KR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Transition point </a:t>
            </a:r>
            <a:r>
              <a:rPr lang="en-US" sz="1900" dirty="0" smtClean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of </a:t>
            </a: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Copper: over 150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9512308" y="9140382"/>
            <a:ext cx="194244" cy="194244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B51E"/>
            </a:solidFill>
            <a:ln cap="sq">
              <a:noFill/>
              <a:prstDash val="dash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9931503" y="9066372"/>
            <a:ext cx="5355503" cy="315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60"/>
              </a:lnSpc>
            </a:pPr>
            <a:r>
              <a:rPr lang="en-US" altLang="ko-KR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Transition point </a:t>
            </a:r>
            <a:r>
              <a:rPr lang="en-US" sz="1900" dirty="0" smtClean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of </a:t>
            </a: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Platelets: less than 200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9512308" y="9568372"/>
            <a:ext cx="194244" cy="194244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B51E"/>
            </a:solidFill>
            <a:ln cap="sq">
              <a:noFill/>
              <a:prstDash val="dash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9931504" y="9494361"/>
            <a:ext cx="5765696" cy="315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60"/>
              </a:lnSpc>
            </a:pPr>
            <a:r>
              <a:rPr lang="en-US" altLang="ko-KR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Transition point </a:t>
            </a:r>
            <a:r>
              <a:rPr lang="en-US" sz="1900" dirty="0" smtClean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of </a:t>
            </a:r>
            <a:r>
              <a:rPr lang="en-US" sz="1900" dirty="0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Prothrombin Time: over 12.5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70097"/>
            <a:ext cx="797570" cy="0"/>
          </a:xfrm>
          <a:prstGeom prst="line">
            <a:avLst/>
          </a:prstGeom>
          <a:ln w="76200" cap="flat">
            <a:solidFill>
              <a:srgbClr val="F4B51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839276" y="1885095"/>
            <a:ext cx="10473644" cy="1210589"/>
            <a:chOff x="0" y="0"/>
            <a:chExt cx="2758491" cy="3188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58491" cy="318838"/>
            </a:xfrm>
            <a:custGeom>
              <a:avLst/>
              <a:gdLst/>
              <a:ahLst/>
              <a:cxnLst/>
              <a:rect l="l" t="t" r="r" b="b"/>
              <a:pathLst>
                <a:path w="2758491" h="318838">
                  <a:moveTo>
                    <a:pt x="2758491" y="14044"/>
                  </a:moveTo>
                  <a:lnTo>
                    <a:pt x="2758491" y="304794"/>
                  </a:lnTo>
                  <a:cubicBezTo>
                    <a:pt x="2758491" y="312550"/>
                    <a:pt x="2752203" y="318838"/>
                    <a:pt x="2744446" y="318838"/>
                  </a:cubicBezTo>
                  <a:lnTo>
                    <a:pt x="14044" y="318838"/>
                  </a:lnTo>
                  <a:cubicBezTo>
                    <a:pt x="10320" y="318838"/>
                    <a:pt x="6747" y="317358"/>
                    <a:pt x="4114" y="314725"/>
                  </a:cubicBezTo>
                  <a:cubicBezTo>
                    <a:pt x="1480" y="312091"/>
                    <a:pt x="0" y="308519"/>
                    <a:pt x="0" y="304794"/>
                  </a:cubicBezTo>
                  <a:lnTo>
                    <a:pt x="0" y="14044"/>
                  </a:lnTo>
                  <a:cubicBezTo>
                    <a:pt x="0" y="6288"/>
                    <a:pt x="6288" y="0"/>
                    <a:pt x="14044" y="0"/>
                  </a:cubicBezTo>
                  <a:lnTo>
                    <a:pt x="2744446" y="0"/>
                  </a:lnTo>
                  <a:cubicBezTo>
                    <a:pt x="2752203" y="0"/>
                    <a:pt x="2758491" y="6288"/>
                    <a:pt x="2758491" y="14044"/>
                  </a:cubicBezTo>
                  <a:close/>
                </a:path>
              </a:pathLst>
            </a:custGeom>
            <a:solidFill>
              <a:srgbClr val="F4B51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758491" cy="3664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883937"/>
            <a:ext cx="8744082" cy="327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400" b="1" spc="14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RESEARCH QUESTION 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08686" y="9124474"/>
            <a:ext cx="3050614" cy="291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  <a:spcBef>
                <a:spcPct val="0"/>
              </a:spcBef>
            </a:pPr>
            <a:r>
              <a:rPr lang="en-US" sz="2100" b="1" spc="-42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017" y="2099246"/>
            <a:ext cx="10228162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RQ3. How accurately can the Bayesian Ordered </a:t>
            </a:r>
            <a:r>
              <a:rPr lang="en-US" sz="2200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Probit</a:t>
            </a:r>
            <a:r>
              <a:rPr lang="en-US" sz="22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model 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predict patients in stage 3 and 4?</a:t>
            </a:r>
            <a:endParaRPr lang="en-US" sz="22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0554275" y="4843278"/>
            <a:ext cx="194244" cy="19424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B51E"/>
            </a:solidFill>
            <a:ln cap="sq">
              <a:noFill/>
              <a:prstDash val="dash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973471" y="4756023"/>
            <a:ext cx="6247729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high safety tool with </a:t>
            </a:r>
            <a:r>
              <a:rPr lang="en-US" sz="2100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 advanced patients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00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isclassified into stage 1</a:t>
            </a:r>
            <a:endParaRPr lang="en-US" sz="21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0554275" y="5756469"/>
            <a:ext cx="194244" cy="194244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B51E"/>
            </a:solidFill>
            <a:ln cap="sq">
              <a:noFill/>
              <a:prstDash val="dash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973471" y="5669214"/>
            <a:ext cx="5785115" cy="737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sensitivity of approximately 68% (</a:t>
            </a:r>
            <a:r>
              <a:rPr lang="en-US" sz="2100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106/155</a:t>
            </a: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 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 stage 3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554275" y="6674712"/>
            <a:ext cx="194244" cy="194244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B51E"/>
            </a:solidFill>
            <a:ln cap="sq">
              <a:noFill/>
              <a:prstDash val="dash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973471" y="6587457"/>
            <a:ext cx="5655717" cy="737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sensitivity of approximately </a:t>
            </a:r>
            <a:r>
              <a:rPr lang="en-US" sz="2100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56% </a:t>
            </a: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</a:t>
            </a:r>
            <a:r>
              <a:rPr lang="en-US" sz="2100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81/144</a:t>
            </a: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 </a:t>
            </a:r>
          </a:p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 stage </a:t>
            </a:r>
            <a:r>
              <a:rPr lang="en-US" sz="2100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  <a:endParaRPr lang="en-US" sz="21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505343"/>
            <a:ext cx="8904931" cy="6381151"/>
          </a:xfrm>
          <a:prstGeom prst="rect">
            <a:avLst/>
          </a:prstGeom>
        </p:spPr>
      </p:pic>
      <p:grpSp>
        <p:nvGrpSpPr>
          <p:cNvPr id="35" name="Group 29"/>
          <p:cNvGrpSpPr/>
          <p:nvPr/>
        </p:nvGrpSpPr>
        <p:grpSpPr>
          <a:xfrm>
            <a:off x="10554274" y="7592955"/>
            <a:ext cx="194244" cy="194244"/>
            <a:chOff x="0" y="0"/>
            <a:chExt cx="812800" cy="812800"/>
          </a:xfrm>
        </p:grpSpPr>
        <p:sp>
          <p:nvSpPr>
            <p:cNvPr id="36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4B51E"/>
            </a:solidFill>
            <a:ln cap="sq">
              <a:noFill/>
              <a:prstDash val="dash"/>
              <a:miter/>
            </a:ln>
          </p:spPr>
        </p:sp>
        <p:sp>
          <p:nvSpPr>
            <p:cNvPr id="37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8" name="TextBox 32"/>
          <p:cNvSpPr txBox="1"/>
          <p:nvPr/>
        </p:nvSpPr>
        <p:spPr>
          <a:xfrm>
            <a:off x="10973470" y="7505700"/>
            <a:ext cx="5655717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 smtClean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May consider other features to enhance model accuracy for future studies</a:t>
            </a:r>
            <a:endParaRPr lang="en-US" sz="210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8745215" y="8444767"/>
            <a:ext cx="797570" cy="0"/>
          </a:xfrm>
          <a:prstGeom prst="line">
            <a:avLst/>
          </a:prstGeom>
          <a:ln w="76200" cap="flat">
            <a:solidFill>
              <a:srgbClr val="F4B51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3336889" y="4465617"/>
            <a:ext cx="11614223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333</Words>
  <Application>Microsoft Office PowerPoint</Application>
  <PresentationFormat>사용자 지정</PresentationFormat>
  <Paragraphs>59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6" baseType="lpstr">
      <vt:lpstr>Open Sauce Light</vt:lpstr>
      <vt:lpstr>Calibri</vt:lpstr>
      <vt:lpstr>맑은 고딕</vt:lpstr>
      <vt:lpstr>Open Sauce Bold</vt:lpstr>
      <vt:lpstr>Arial</vt:lpstr>
      <vt:lpstr>Open Sauce</vt:lpstr>
      <vt:lpstr>League Spartan</vt:lpstr>
      <vt:lpstr>Canva Sans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Clean Bold Corporate Social Media Marketing Strategies Presentation</dc:title>
  <cp:lastModifiedBy>Hwang Byunghyun</cp:lastModifiedBy>
  <cp:revision>30</cp:revision>
  <dcterms:created xsi:type="dcterms:W3CDTF">2006-08-16T00:00:00Z</dcterms:created>
  <dcterms:modified xsi:type="dcterms:W3CDTF">2026-07-18T07:32:47Z</dcterms:modified>
  <dc:identifier>DAHJ-9TF0_Q</dc:identifier>
</cp:coreProperties>
</file>